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AERIS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3CBBB1"/>
                </a:solidFill>
              </a:defRPr>
            </a:pPr>
            <a:r>
              <a:t>Architecture Edge-Cloud adaptative pour le routage</a:t>
            </a:r>
            <a:br/>
            <a:r>
              <a:t>intelligent de services d'inférence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5A8"/>
                </a:solidFill>
              </a:defRPr>
            </a:pPr>
            <a:r>
              <a:t>Une technologie générique et réutilisable — appliquée au triage radiologique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Boubacar NIANG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94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5A8"/>
                </a:solidFill>
              </a:defRPr>
            </a:pPr>
            <a:r>
              <a:t>Université Alioune Diop de Bambey (UADB), Sénégal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5A8"/>
                </a:solidFill>
              </a:defRPr>
            </a:pPr>
            <a:r>
              <a:t>Master 2 Systèmes d'Information —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2B46"/>
                </a:solidFill>
              </a:defRPr>
            </a:pPr>
            <a:r>
              <a:t>Contexte : 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9BD5"/>
                </a:solidFill>
              </a:defRPr>
            </a:pPr>
            <a:r>
              <a:t>Approche Cloud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3200400" cy="54864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276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Service IA dans le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9BD5"/>
                </a:solidFill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3200400" cy="548640"/>
          </a:xfrm>
          <a:prstGeom prst="roundRect">
            <a:avLst/>
          </a:prstGeom>
          <a:noFill/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A2A3A"/>
                </a:solidFill>
              </a:defRPr>
            </a:pPr>
            <a:r>
              <a:t>Dépendance au réseau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63D40"/>
                </a:solidFill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83280"/>
            <a:ext cx="3200400" cy="548640"/>
          </a:xfrm>
          <a:prstGeom prst="round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564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Coupure = service dégradé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B"/>
                </a:solidFill>
              </a:defRPr>
            </a:pPr>
            <a:r>
              <a:t>Approche 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554480"/>
            <a:ext cx="3200400" cy="548640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6276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Traitement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84B"/>
                </a:solidFill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468880"/>
            <a:ext cx="3200400" cy="548640"/>
          </a:xfrm>
          <a:prstGeom prst="roundRect">
            <a:avLst/>
          </a:prstGeom>
          <a:noFill/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5420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A2A3A"/>
                </a:solidFill>
              </a:defRPr>
            </a:pPr>
            <a:r>
              <a:t>Faible latence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63D40"/>
                </a:solidFill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383280"/>
            <a:ext cx="3200400" cy="548640"/>
          </a:xfrm>
          <a:prstGeom prst="roundRect">
            <a:avLst/>
          </a:prstGeom>
          <a:solidFill>
            <a:srgbClr val="A6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4564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Ressources limitées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BBB1"/>
                </a:solidFill>
              </a:defRPr>
            </a:pPr>
            <a:r>
              <a:t>Le besoin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1554480"/>
            <a:ext cx="3200400" cy="237744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Edge +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651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CBBB1"/>
                </a:solidFill>
              </a:defRPr>
            </a:pPr>
            <a:r>
              <a:t>Décision adaptative</a:t>
            </a:r>
            <a:br/>
            <a:r>
              <a:t>en temps réel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480560"/>
            <a:ext cx="10698480" cy="91440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Décider dynamiquement où exécuter une charge IA</a:t>
            </a:r>
            <a:br/>
            <a:r>
              <a:t>selon l'état du réseau et des ressources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E70"/>
                </a:solidFill>
              </a:defRPr>
            </a:pPr>
            <a:r>
              <a:t>Cas d'application : triage radiologique (tuberculose, pneumonie) en zones à faible connectivité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2B46"/>
                </a:solidFill>
              </a:defRPr>
            </a:pPr>
            <a:r>
              <a:t>Problématique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1097280"/>
            <a:ext cx="2286000" cy="64008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1704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Tâche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783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103120"/>
            <a:ext cx="3200400" cy="822960"/>
          </a:xfrm>
          <a:prstGeom prst="roundRect">
            <a:avLst/>
          </a:prstGeom>
          <a:solidFill>
            <a:srgbClr val="3CB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Moteur de décision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84B"/>
                </a:solidFill>
              </a:defRPr>
            </a:pPr>
            <a:r>
              <a:t>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B9BD5"/>
                </a:solidFill>
              </a:defRPr>
            </a:pPr>
            <a:r>
              <a:t>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383280"/>
            <a:ext cx="2286000" cy="640080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4564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383280"/>
            <a:ext cx="2286000" cy="64008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4564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E70"/>
                </a:solidFill>
              </a:defRPr>
            </a:pPr>
            <a:r>
              <a:t>CPU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E70"/>
                </a:solidFill>
              </a:defRPr>
            </a:pPr>
            <a:r>
              <a:t>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E70"/>
                </a:solidFill>
              </a:defRPr>
            </a:pPr>
            <a:r>
              <a:t>Latence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E70"/>
                </a:solidFill>
              </a:defRPr>
            </a:pPr>
            <a:r>
              <a:t>Bande passante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4572000"/>
            <a:ext cx="7589520" cy="1097280"/>
          </a:xfrm>
          <a:prstGeom prst="roundRect">
            <a:avLst/>
          </a:prstGeom>
          <a:noFill/>
          <a:ln w="2540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470916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F2B46"/>
                </a:solidFill>
              </a:defRPr>
            </a:pPr>
            <a:r>
              <a:t>« Comment concevoir une architecture distribuée capable de router</a:t>
            </a:r>
            <a:br/>
            <a:r>
              <a:t>dynamiquement l'exécution de services d'IA entre l'Edge et le Cloud,</a:t>
            </a:r>
            <a:br/>
            <a:r>
              <a:t>en s'adaptant en temps réel aux contraintes de réseau, de latence et de charge ?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8521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E70"/>
                </a:solidFill>
              </a:defRPr>
            </a:pPr>
            <a:r>
              <a:t>Architecture générique, indépendante du domaine d'application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2B46"/>
                </a:solidFill>
              </a:defRPr>
            </a:pPr>
            <a:r>
              <a:t>Objectif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32720" cy="109728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344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Concevoir, implémenter et évaluer un moteur de décision adaptatif</a:t>
            </a:r>
            <a:br/>
            <a:r>
              <a:t>capable de router dynamiquement des charges de travail IA entre Edge et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560320" cy="2560320"/>
          </a:xfrm>
          <a:prstGeom prst="roundRect">
            <a:avLst/>
          </a:prstGeom>
          <a:noFill/>
          <a:ln w="1905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CBBB1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B46"/>
                </a:solidFill>
              </a:defRPr>
            </a:pPr>
            <a:r>
              <a:t>Concevoir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</a:defRPr>
            </a:pPr>
            <a:r>
              <a:t>Architecture Edge-Cloud</a:t>
            </a:r>
            <a:br/>
            <a:r>
              <a:t>générique et conteneurisée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743200"/>
            <a:ext cx="2560320" cy="2560320"/>
          </a:xfrm>
          <a:prstGeom prst="roundRect">
            <a:avLst/>
          </a:prstGeom>
          <a:noFill/>
          <a:ln w="1905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880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CBBB1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B46"/>
                </a:solidFill>
              </a:defRPr>
            </a:pPr>
            <a:r>
              <a:t>Développer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</a:defRPr>
            </a:pPr>
            <a:r>
              <a:t>Moteur de décision</a:t>
            </a:r>
            <a:br/>
            <a:r>
              <a:t>+ microservices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743200"/>
            <a:ext cx="2560320" cy="2560320"/>
          </a:xfrm>
          <a:prstGeom prst="roundRect">
            <a:avLst/>
          </a:prstGeom>
          <a:noFill/>
          <a:ln w="1905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880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CBBB1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B46"/>
                </a:solidFill>
              </a:defRPr>
            </a:pPr>
            <a:r>
              <a:t>Évaluer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</a:defRPr>
            </a:pPr>
            <a:r>
              <a:t>Comparer 3 scénarios</a:t>
            </a:r>
            <a:br/>
            <a:r>
              <a:t>expérimentaux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743200"/>
            <a:ext cx="2560320" cy="2560320"/>
          </a:xfrm>
          <a:prstGeom prst="roundRect">
            <a:avLst/>
          </a:prstGeom>
          <a:noFill/>
          <a:ln w="1905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2880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CBBB1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B46"/>
                </a:solidFill>
              </a:defRPr>
            </a:pPr>
            <a:r>
              <a:t>Généraliser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E70"/>
                </a:solidFill>
              </a:defRPr>
            </a:pPr>
            <a:r>
              <a:t>Démontrer la</a:t>
            </a:r>
            <a:br/>
            <a:r>
              <a:t>transférabilité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2B46"/>
                </a:solidFill>
              </a:defRPr>
            </a:pPr>
            <a:r>
              <a:t>Principe de fonctionnement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188720"/>
            <a:ext cx="3017520" cy="64008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2618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Requête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377440"/>
            <a:ext cx="3017520" cy="640080"/>
          </a:xfrm>
          <a:prstGeom prst="roundRect">
            <a:avLst/>
          </a:prstGeom>
          <a:solidFill>
            <a:srgbClr val="3CB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4505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Mesure de l'environnement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566160"/>
            <a:ext cx="3017520" cy="64008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63931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Moteur de décision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E70"/>
                </a:solidFill>
              </a:defRPr>
            </a:pPr>
            <a:r>
              <a:t>Latence réseau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40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E70"/>
                </a:solidFill>
              </a:defRPr>
            </a:pPr>
            <a:r>
              <a:t>Bande passante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60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E70"/>
                </a:solidFill>
              </a:defRPr>
            </a:pPr>
            <a:r>
              <a:t>CPU 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E70"/>
                </a:solidFill>
              </a:defRPr>
            </a:pPr>
            <a:r>
              <a:t>RAM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00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E70"/>
                </a:solidFill>
              </a:defRPr>
            </a:pPr>
            <a:r>
              <a:t>Disponibilité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34840" y="2560320"/>
            <a:ext cx="137160" cy="0"/>
          </a:xfrm>
          <a:prstGeom prst="line">
            <a:avLst/>
          </a:prstGeom>
          <a:ln w="12700">
            <a:solidFill>
              <a:srgbClr val="3CB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84B"/>
                </a:solidFill>
              </a:defRPr>
            </a:pPr>
            <a:r>
              <a:t>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B9BD5"/>
                </a:solidFill>
              </a:defRPr>
            </a:pPr>
            <a:r>
              <a:t>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4480560"/>
            <a:ext cx="2743200" cy="640080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553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Edge (modèle léger)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480560"/>
            <a:ext cx="2743200" cy="64008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4553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Cloud (modèle lourd)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166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166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5486400"/>
            <a:ext cx="3017520" cy="640080"/>
          </a:xfrm>
          <a:prstGeom prst="roundRect">
            <a:avLst/>
          </a:prstGeom>
          <a:solidFill>
            <a:srgbClr val="3CB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555955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Résultat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B46"/>
                </a:solidFill>
              </a:defRPr>
            </a:pPr>
            <a:r>
              <a:t>Le moteur ne connaît pas le domaine métier : il décide uniquement à partir de l'état du système.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2B46"/>
                </a:solidFill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914400"/>
            <a:ext cx="3017520" cy="54864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9875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Application /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508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737360"/>
            <a:ext cx="3931920" cy="731520"/>
          </a:xfrm>
          <a:prstGeom prst="roundRect">
            <a:avLst/>
          </a:prstGeom>
          <a:solidFill>
            <a:srgbClr val="3CB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81051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Decision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84B"/>
                </a:solidFill>
              </a:defRPr>
            </a:pPr>
            <a:r>
              <a:t>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B9BD5"/>
                </a:solidFill>
              </a:defRPr>
            </a:pPr>
            <a:r>
              <a:t>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4572000" cy="2286000"/>
          </a:xfrm>
          <a:prstGeom prst="roundRect">
            <a:avLst/>
          </a:prstGeom>
          <a:noFill/>
          <a:ln w="254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B"/>
                </a:solidFill>
              </a:defRPr>
            </a:pPr>
            <a:r>
              <a:t>Noeud Edge (local)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566160"/>
            <a:ext cx="2011680" cy="457200"/>
          </a:xfrm>
          <a:prstGeom prst="roundRect">
            <a:avLst/>
          </a:prstGeom>
          <a:noFill/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39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A2A3A"/>
                </a:solidFill>
              </a:defRPr>
            </a:pPr>
            <a:r>
              <a:t>Service TB (léger)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566160"/>
            <a:ext cx="1920240" cy="457200"/>
          </a:xfrm>
          <a:prstGeom prst="roundRect">
            <a:avLst/>
          </a:prstGeom>
          <a:noFill/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6393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A2A3A"/>
                </a:solidFill>
              </a:defRPr>
            </a:pPr>
            <a:r>
              <a:t>Service PN (léger)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</a:defRPr>
            </a:pPr>
            <a:r>
              <a:t>CPU et RAM limités (Docker --cpus --memory)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</a:defRPr>
            </a:pPr>
            <a:r>
              <a:t>Inférence rapide, mode dégradé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2926080"/>
            <a:ext cx="4572000" cy="2286000"/>
          </a:xfrm>
          <a:prstGeom prst="roundRect">
            <a:avLst/>
          </a:prstGeom>
          <a:noFill/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017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</a:defRPr>
            </a:pPr>
            <a:r>
              <a:t>Noeud Cloud (distant)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566160"/>
            <a:ext cx="2011680" cy="457200"/>
          </a:xfrm>
          <a:prstGeom prst="roundRect">
            <a:avLst/>
          </a:prstGeom>
          <a:noFill/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639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A2A3A"/>
                </a:solidFill>
              </a:defRPr>
            </a:pPr>
            <a:r>
              <a:t>Service TB (lourd)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3566160"/>
            <a:ext cx="1920240" cy="457200"/>
          </a:xfrm>
          <a:prstGeom prst="roundRect">
            <a:avLst/>
          </a:prstGeom>
          <a:noFill/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6393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A2A3A"/>
                </a:solidFill>
              </a:defRPr>
            </a:pPr>
            <a:r>
              <a:t>Service PN (lourd)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2519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</a:defRPr>
            </a:pPr>
            <a:r>
              <a:t>DenseNet121 (transfer learning)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5262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</a:defRPr>
            </a:pPr>
            <a:r>
              <a:t>Analyse approfondie, haute précision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solidFill>
            <a:srgbClr val="F1F3F6"/>
          </a:solidFill>
          <a:ln w="1270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B46"/>
                </a:solidFill>
              </a:defRPr>
            </a:pPr>
            <a:r>
              <a:t>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806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E70"/>
                </a:solidFill>
              </a:defRPr>
            </a:pPr>
            <a:r>
              <a:t>CPU  •  RAM  •  Latence  •  Bande passante  •  Disponibilité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6035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BBB1"/>
                </a:solidFill>
              </a:defRPr>
            </a:pPr>
            <a:r>
              <a:t>Les métriques alimentent le Decision Engine en temps réel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080760" y="2468880"/>
            <a:ext cx="0" cy="3200400"/>
          </a:xfrm>
          <a:prstGeom prst="line">
            <a:avLst/>
          </a:prstGeom>
          <a:ln w="12700">
            <a:solidFill>
              <a:srgbClr val="3CB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2B46"/>
                </a:solidFill>
              </a:defRPr>
            </a:pPr>
            <a:r>
              <a:t>Stack technique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2286000" cy="77724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704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08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BBB1"/>
                </a:solidFill>
              </a:defRPr>
            </a:pPr>
            <a:r>
              <a:t>React + 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170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Tableau de bord temps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39"/>
            <a:ext cx="2286000" cy="77724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API /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BBB1"/>
                </a:solidFill>
              </a:defRPr>
            </a:pPr>
            <a:r>
              <a:t>FastAPI +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219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Microservices REST isolés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97179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00400"/>
            <a:ext cx="2286000" cy="77724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2735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BBB1"/>
                </a:solidFill>
              </a:defRPr>
            </a:pPr>
            <a:r>
              <a:t>Docker + 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2735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Conteneurisation, profils Edge/Cloud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023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51959"/>
            <a:ext cx="2286000" cy="77724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251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BBB1"/>
                </a:solidFill>
              </a:defRPr>
            </a:pPr>
            <a:r>
              <a:t>Keras / TensorFlow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3251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Modèles pré-entraînés (CNN, DenseNet)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074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303520"/>
            <a:ext cx="2286000" cy="77724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3766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715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BBB1"/>
                </a:solidFill>
              </a:defRPr>
            </a:pPr>
            <a:r>
              <a:t>Prometheus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376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Collecte métriques, alertes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B46"/>
                </a:solidFill>
              </a:defRPr>
            </a:pPr>
            <a:r>
              <a:t>Decision 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645920"/>
            <a:ext cx="4114800" cy="3657600"/>
          </a:xfrm>
          <a:prstGeom prst="roundRect">
            <a:avLst/>
          </a:prstGeom>
          <a:noFill/>
          <a:ln w="1905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3A"/>
                </a:solidFill>
              </a:defRPr>
            </a:pPr>
            <a:r>
              <a:t>Évaluateur réseau (latence, disponibilité)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3A"/>
                </a:solidFill>
              </a:defRPr>
            </a:pPr>
            <a:r>
              <a:t>Évaluateur ressources (CPU, RAM Edge)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3A"/>
                </a:solidFill>
              </a:defRPr>
            </a:pPr>
            <a:r>
              <a:t>Sélecteur Edge / Cloud (règles + seuils)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3A"/>
                </a:solidFill>
              </a:defRPr>
            </a:pPr>
            <a:r>
              <a:t>Routeur HTTP (appels parallèles)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3A"/>
                </a:solidFill>
              </a:defRPr>
            </a:pPr>
            <a:r>
              <a:t>Agrégateur de résultats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</a:defRPr>
            </a:pPr>
            <a:r>
              <a:t>Python  •  httpx  •  psutil  •  FastAPI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2B46"/>
                </a:solidFill>
              </a:defRPr>
            </a:pPr>
            <a:r>
              <a:t>Méthodologie expérimentale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005840"/>
            <a:ext cx="3931920" cy="54864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0" y="107899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Mêmes requêtes, mêmes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BBB1"/>
                </a:solidFill>
              </a:defRPr>
            </a:pPr>
            <a:r>
              <a:t>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00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BBB1"/>
                </a:solidFill>
              </a:defRPr>
            </a:pPr>
            <a:r>
              <a:t>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00400" cy="2011680"/>
          </a:xfrm>
          <a:prstGeom prst="roundRect">
            <a:avLst/>
          </a:prstGeom>
          <a:noFill/>
          <a:ln w="1905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</a:defRPr>
            </a:pPr>
            <a:r>
              <a:t>Scénario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2B46"/>
                </a:solidFill>
              </a:defRPr>
            </a:pPr>
            <a:r>
              <a:t>Tout-Cloud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100% des inférences</a:t>
            </a:r>
            <a:br/>
            <a:r>
              <a:t>dans le 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011680"/>
            <a:ext cx="3200400" cy="2011680"/>
          </a:xfrm>
          <a:prstGeom prst="roundRect">
            <a:avLst/>
          </a:prstGeom>
          <a:noFill/>
          <a:ln w="1905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48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</a:defRPr>
            </a:pPr>
            <a:r>
              <a:t>Scénario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2B46"/>
                </a:solidFill>
              </a:defRPr>
            </a:pPr>
            <a:r>
              <a:t>Tout-Edge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17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100% des inférences</a:t>
            </a:r>
            <a:br/>
            <a:r>
              <a:t>sur l'Edge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200400" cy="201168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48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8"/>
                </a:solidFill>
              </a:defRPr>
            </a:pPr>
            <a:r>
              <a:t>Scénario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23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Adaptatif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17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0DA"/>
                </a:solidFill>
              </a:defRPr>
            </a:pPr>
            <a:r>
              <a:t>Routage dynamique</a:t>
            </a:r>
            <a:br/>
            <a:r>
              <a:t>Edge ↔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BBB1"/>
                </a:solidFill>
              </a:defRPr>
            </a:pPr>
            <a:r>
              <a:t>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069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BBB1"/>
                </a:solidFill>
              </a:defRPr>
            </a:pPr>
            <a:r>
              <a:t>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4389120"/>
            <a:ext cx="3931920" cy="548640"/>
          </a:xfrm>
          <a:prstGeom prst="roundRect">
            <a:avLst/>
          </a:prstGeom>
          <a:solidFill>
            <a:srgbClr val="3CB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4622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Comparaison des métriques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•  Latence (ms)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•  Temps d'inférence (ms)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•  CPU / RAM (%)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23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•  Débit (req/s)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623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•  Bande passante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623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•  Disponibilité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E70"/>
                </a:solidFill>
              </a:defRPr>
            </a:pPr>
            <a:r>
              <a:t>Hypothèse : l'approche adaptative devrait offrir un meilleur compromis entre performance, disponibilité et ressources.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2B46"/>
                </a:solidFill>
              </a:defRPr>
            </a:pPr>
            <a:r>
              <a:t>Pourquoi l'architecture doit être adaptative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4114800"/>
          </a:xfrm>
          <a:prstGeom prst="roundRect">
            <a:avLst/>
          </a:prstGeom>
          <a:noFill/>
          <a:ln w="1905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B46"/>
                </a:solidFill>
              </a:defRPr>
            </a:pPr>
            <a:r>
              <a:t>État normal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</a:defRPr>
            </a:pPr>
            <a:r>
              <a:t>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Réseau stable</a:t>
            </a:r>
            <a:br/>
            <a:r>
              <a:t>CPU Edge faible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</a:defRPr>
            </a:pPr>
            <a:r>
              <a:t>Décision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383280"/>
            <a:ext cx="2926080" cy="548640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56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Edge privilégié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</a:defRPr>
            </a:pPr>
            <a:r>
              <a:t>Raison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3A"/>
                </a:solidFill>
              </a:defRPr>
            </a:pPr>
            <a:r>
              <a:t>Proximité des données,</a:t>
            </a:r>
            <a:br/>
            <a:r>
              <a:t>faible latence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097280"/>
            <a:ext cx="3474720" cy="4114800"/>
          </a:xfrm>
          <a:prstGeom prst="roundRect">
            <a:avLst/>
          </a:prstGeom>
          <a:noFill/>
          <a:ln w="1905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234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B46"/>
                </a:solidFill>
              </a:defRPr>
            </a:pPr>
            <a:r>
              <a:t>Edge saturé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</a:defRPr>
            </a:pPr>
            <a:r>
              <a:t>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011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CPU / RAM élevés</a:t>
            </a:r>
            <a:br/>
            <a:r>
              <a:t>Réseau disponible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</a:defRPr>
            </a:pPr>
            <a:r>
              <a:t>Décision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383280"/>
            <a:ext cx="2926080" cy="54864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456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Cloud privilégié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</a:defRPr>
            </a:pPr>
            <a:r>
              <a:t>Raison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3A"/>
                </a:solidFill>
              </a:defRPr>
            </a:pPr>
            <a:r>
              <a:t>Délégation pour</a:t>
            </a:r>
            <a:br/>
            <a:r>
              <a:t>éviter la surcharge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1097280"/>
            <a:ext cx="3474720" cy="4114800"/>
          </a:xfrm>
          <a:prstGeom prst="roundRect">
            <a:avLst/>
          </a:prstGeom>
          <a:noFill/>
          <a:ln w="1905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1234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B46"/>
                </a:solidFill>
              </a:defRPr>
            </a:pPr>
            <a:r>
              <a:t>Réseau dégradé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</a:defRPr>
            </a:pPr>
            <a:r>
              <a:t>Conditions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011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3A"/>
                </a:solidFill>
              </a:defRPr>
            </a:pPr>
            <a:r>
              <a:t>Latence élevée</a:t>
            </a:r>
            <a:br/>
            <a:r>
              <a:t>Connexion instable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CBBB1"/>
                </a:solidFill>
              </a:defRPr>
            </a:pPr>
            <a: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</a:defRPr>
            </a:pPr>
            <a:r>
              <a:t>Décision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3383280"/>
            <a:ext cx="2926080" cy="548640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3456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Edge privilégié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</a:defRPr>
            </a:pPr>
            <a:r>
              <a:t>Raison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3A"/>
                </a:solidFill>
              </a:defRPr>
            </a:pPr>
            <a:r>
              <a:t>Continuité de service</a:t>
            </a:r>
            <a:br/>
            <a:r>
              <a:t>en mode dégradé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B46"/>
                </a:solidFill>
              </a:defRPr>
            </a:pPr>
            <a:r>
              <a:t>Le moteur s'adapte en permanence : chaque requête est routée selon l'état mesuré à cet instant.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2B46"/>
                </a:solidFill>
              </a:defRPr>
            </a:pPr>
            <a:r>
              <a:t>Généricité de l'architecture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097280"/>
            <a:ext cx="3931920" cy="201168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97680" y="1234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AERIS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691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BBB1"/>
                </a:solidFill>
              </a:defRPr>
            </a:pPr>
            <a:r>
              <a:t>Decision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011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BBB1"/>
                </a:solidFill>
              </a:defRPr>
            </a:pPr>
            <a:r>
              <a:t>Orchestration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3317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BBB1"/>
                </a:solidFill>
              </a:defRPr>
            </a:pPr>
            <a:r>
              <a:t>Monitoring Prometheus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6517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BBB1"/>
                </a:solidFill>
              </a:defRPr>
            </a:pPr>
            <a:r>
              <a:t>API 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74720"/>
            <a:ext cx="3200400" cy="1371600"/>
          </a:xfrm>
          <a:prstGeom prst="roundRect">
            <a:avLst/>
          </a:prstGeom>
          <a:noFill/>
          <a:ln w="1905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1187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B46"/>
                </a:solidFill>
              </a:defRPr>
            </a:pPr>
            <a:r>
              <a:t>Santé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5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3A"/>
                </a:solidFill>
              </a:defRPr>
            </a:pPr>
            <a:r>
              <a:t>Radiographie</a:t>
            </a:r>
            <a:br/>
            <a:r>
              <a:t>TB / Pneumonie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474720"/>
            <a:ext cx="3200400" cy="1371600"/>
          </a:xfrm>
          <a:prstGeom prst="roundRect">
            <a:avLst/>
          </a:prstGeom>
          <a:noFill/>
          <a:ln w="1905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61187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B46"/>
                </a:solidFill>
              </a:defRPr>
            </a:pPr>
            <a:r>
              <a:t>Agriculture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02335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3A"/>
                </a:solidFill>
              </a:defRPr>
            </a:pPr>
            <a:r>
              <a:t>Image de culture</a:t>
            </a:r>
            <a:br/>
            <a:r>
              <a:t>Détection maladie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474720"/>
            <a:ext cx="3200400" cy="1371600"/>
          </a:xfrm>
          <a:prstGeom prst="roundRect">
            <a:avLst/>
          </a:prstGeom>
          <a:noFill/>
          <a:ln w="1905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61187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B46"/>
                </a:solidFill>
              </a:defRPr>
            </a:pPr>
            <a:r>
              <a:t>Transport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2335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2A3A"/>
                </a:solidFill>
              </a:defRPr>
            </a:pPr>
            <a:r>
              <a:t>Flux vidéo</a:t>
            </a:r>
            <a:br/>
            <a:r>
              <a:t>Détection véhicules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514600" y="3108960"/>
            <a:ext cx="2514600" cy="365760"/>
          </a:xfrm>
          <a:prstGeom prst="line">
            <a:avLst/>
          </a:prstGeom>
          <a:ln w="12700">
            <a:solidFill>
              <a:srgbClr val="3CB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3108960"/>
            <a:ext cx="0" cy="365760"/>
          </a:xfrm>
          <a:prstGeom prst="line">
            <a:avLst/>
          </a:prstGeom>
          <a:ln w="12700">
            <a:solidFill>
              <a:srgbClr val="3CB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32320" y="3108960"/>
            <a:ext cx="2514600" cy="365760"/>
          </a:xfrm>
          <a:prstGeom prst="line">
            <a:avLst/>
          </a:prstGeom>
          <a:ln w="12700">
            <a:solidFill>
              <a:srgbClr val="3CB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371600" y="5303520"/>
            <a:ext cx="9418320" cy="91440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3949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AERIS ne route pas des radiographies.</a:t>
            </a:r>
            <a:br/>
            <a:r>
              <a:t>AERIS route des charges de travail 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E70"/>
                </a:solidFill>
              </a:defRPr>
            </a:pPr>
            <a:r>
              <a:t>Même moteur, même monitoring, même logique — seuls les conteneurs de service changent.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2B46"/>
                </a:solidFill>
              </a:defRPr>
            </a:pPr>
            <a:r>
              <a:t>Plan de travail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154680"/>
            <a:ext cx="10698480" cy="483869999"/>
          </a:xfrm>
          <a:prstGeom prst="rect">
            <a:avLst/>
          </a:prstGeom>
          <a:solidFill>
            <a:srgbClr val="3CB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99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B46"/>
                </a:solidFill>
              </a:defRPr>
            </a:pPr>
            <a:r>
              <a:t>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99" y="1783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E70"/>
                </a:solidFill>
              </a:defRPr>
            </a:pPr>
            <a:r>
              <a:t>Problématique</a:t>
            </a:r>
            <a:br/>
            <a:r>
              <a:t>État de l'art</a:t>
            </a:r>
          </a:p>
        </p:txBody>
      </p:sp>
      <p:sp>
        <p:nvSpPr>
          <p:cNvPr id="6" name="Oval 5"/>
          <p:cNvSpPr/>
          <p:nvPr/>
        </p:nvSpPr>
        <p:spPr>
          <a:xfrm>
            <a:off x="1485900" y="3017520"/>
            <a:ext cx="274320" cy="274320"/>
          </a:xfrm>
          <a:prstGeom prst="ellipse">
            <a:avLst/>
          </a:prstGeom>
          <a:solidFill>
            <a:srgbClr val="3CB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99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BBB1"/>
                </a:solidFill>
              </a:defRPr>
            </a:pPr>
            <a:r>
              <a:t>3 sem.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3180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B46"/>
                </a:solidFill>
              </a:defRPr>
            </a:pPr>
            <a:r>
              <a:t>Conception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3180" y="1783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E70"/>
                </a:solidFill>
              </a:defRPr>
            </a:pPr>
            <a:r>
              <a:t>Architecture</a:t>
            </a:r>
            <a:br/>
            <a:r>
              <a:t>Diagrammes</a:t>
            </a:r>
          </a:p>
        </p:txBody>
      </p:sp>
      <p:sp>
        <p:nvSpPr>
          <p:cNvPr id="10" name="Oval 9"/>
          <p:cNvSpPr/>
          <p:nvPr/>
        </p:nvSpPr>
        <p:spPr>
          <a:xfrm>
            <a:off x="3268980" y="3017520"/>
            <a:ext cx="274320" cy="274320"/>
          </a:xfrm>
          <a:prstGeom prst="ellipse">
            <a:avLst/>
          </a:prstGeom>
          <a:solidFill>
            <a:srgbClr val="3CB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318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BBB1"/>
                </a:solidFill>
              </a:defRPr>
            </a:pPr>
            <a:r>
              <a:t>3 sem.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6259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B46"/>
                </a:solidFill>
              </a:defRPr>
            </a:pPr>
            <a:r>
              <a:t>Implémentation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6259" y="1783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E70"/>
                </a:solidFill>
              </a:defRPr>
            </a:pPr>
            <a:r>
              <a:t>Services, moteur</a:t>
            </a:r>
            <a:br/>
            <a:r>
              <a:t>Docker, dashboard</a:t>
            </a:r>
          </a:p>
        </p:txBody>
      </p:sp>
      <p:sp>
        <p:nvSpPr>
          <p:cNvPr id="14" name="Oval 13"/>
          <p:cNvSpPr/>
          <p:nvPr/>
        </p:nvSpPr>
        <p:spPr>
          <a:xfrm>
            <a:off x="5052059" y="3017520"/>
            <a:ext cx="274320" cy="274320"/>
          </a:xfrm>
          <a:prstGeom prst="ellipse">
            <a:avLst/>
          </a:prstGeom>
          <a:solidFill>
            <a:srgbClr val="3CB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6259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BBB1"/>
                </a:solidFill>
              </a:defRPr>
            </a:pPr>
            <a:r>
              <a:t>6 sem.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9339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B46"/>
                </a:solidFill>
              </a:defRPr>
            </a:pPr>
            <a:r>
              <a:t>Expérimentation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9339" y="1783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E70"/>
                </a:solidFill>
              </a:defRPr>
            </a:pPr>
            <a:r>
              <a:t>3 scénarios</a:t>
            </a:r>
            <a:br/>
            <a:r>
              <a:t>Métriques</a:t>
            </a:r>
          </a:p>
        </p:txBody>
      </p:sp>
      <p:sp>
        <p:nvSpPr>
          <p:cNvPr id="18" name="Oval 17"/>
          <p:cNvSpPr/>
          <p:nvPr/>
        </p:nvSpPr>
        <p:spPr>
          <a:xfrm>
            <a:off x="6835139" y="3017520"/>
            <a:ext cx="274320" cy="274320"/>
          </a:xfrm>
          <a:prstGeom prst="ellipse">
            <a:avLst/>
          </a:prstGeom>
          <a:solidFill>
            <a:srgbClr val="3CB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9339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BBB1"/>
                </a:solidFill>
              </a:defRPr>
            </a:pPr>
            <a:r>
              <a:t>3 sem.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2419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B46"/>
                </a:solidFill>
              </a:defRPr>
            </a:pPr>
            <a:r>
              <a:t>Analyse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2419" y="1783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E70"/>
                </a:solidFill>
              </a:defRPr>
            </a:pPr>
            <a:r>
              <a:t>Résultats</a:t>
            </a:r>
            <a:br/>
            <a:r>
              <a:t>Transférabilité</a:t>
            </a:r>
          </a:p>
        </p:txBody>
      </p:sp>
      <p:sp>
        <p:nvSpPr>
          <p:cNvPr id="22" name="Oval 21"/>
          <p:cNvSpPr/>
          <p:nvPr/>
        </p:nvSpPr>
        <p:spPr>
          <a:xfrm>
            <a:off x="8618219" y="3017520"/>
            <a:ext cx="274320" cy="274320"/>
          </a:xfrm>
          <a:prstGeom prst="ellipse">
            <a:avLst/>
          </a:prstGeom>
          <a:solidFill>
            <a:srgbClr val="3CB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2419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BBB1"/>
                </a:solidFill>
              </a:defRPr>
            </a:pPr>
            <a:r>
              <a:t>2 sem.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5500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B46"/>
                </a:solidFill>
              </a:defRPr>
            </a:pPr>
            <a:r>
              <a:t>Rédaction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0" y="1783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E70"/>
                </a:solidFill>
              </a:defRPr>
            </a:pPr>
            <a:r>
              <a:t>Mémoire</a:t>
            </a:r>
            <a:br/>
            <a:r>
              <a:t>Soutenance</a:t>
            </a:r>
          </a:p>
        </p:txBody>
      </p:sp>
      <p:sp>
        <p:nvSpPr>
          <p:cNvPr id="26" name="Oval 25"/>
          <p:cNvSpPr/>
          <p:nvPr/>
        </p:nvSpPr>
        <p:spPr>
          <a:xfrm>
            <a:off x="10401300" y="3017520"/>
            <a:ext cx="274320" cy="274320"/>
          </a:xfrm>
          <a:prstGeom prst="ellipse">
            <a:avLst/>
          </a:prstGeom>
          <a:solidFill>
            <a:srgbClr val="3CB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BBB1"/>
                </a:solidFill>
              </a:defRPr>
            </a:pPr>
            <a:r>
              <a:t>3 sem.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B46"/>
                </a:solidFill>
              </a:defRPr>
            </a:pPr>
            <a:r>
              <a:t>Durée totale estimée : 20 semaines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Contribution proposée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CBBB1"/>
                </a:solidFill>
              </a:defRPr>
            </a:pPr>
            <a:r>
              <a:t>AERIS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303520" cy="1097280"/>
          </a:xfrm>
          <a:prstGeom prst="roundRect">
            <a:avLst/>
          </a:prstGeom>
          <a:noFill/>
          <a:ln w="1270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CBBB1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2316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0DA"/>
                </a:solidFill>
              </a:defRPr>
            </a:pPr>
            <a:r>
              <a:t>Architecture Edge-Cloud générique</a:t>
            </a:r>
            <a:br/>
            <a:r>
              <a:t>et conteneurisée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286000"/>
            <a:ext cx="5303520" cy="1097280"/>
          </a:xfrm>
          <a:prstGeom prst="roundRect">
            <a:avLst/>
          </a:prstGeom>
          <a:noFill/>
          <a:ln w="1270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2377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CBBB1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42316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0DA"/>
                </a:solidFill>
              </a:defRPr>
            </a:pPr>
            <a:r>
              <a:t>Moteur de décision adaptatif</a:t>
            </a:r>
            <a:br/>
            <a:r>
              <a:t>basé sur des métriques réelles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303520" cy="1097280"/>
          </a:xfrm>
          <a:prstGeom prst="roundRect">
            <a:avLst/>
          </a:prstGeom>
          <a:noFill/>
          <a:ln w="1270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7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CBBB1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8862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0DA"/>
                </a:solidFill>
              </a:defRPr>
            </a:pPr>
            <a:r>
              <a:t>Évaluation expérimentale comparative</a:t>
            </a:r>
            <a:br/>
            <a:r>
              <a:t>(3 scénarios)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749039"/>
            <a:ext cx="5303520" cy="1097280"/>
          </a:xfrm>
          <a:prstGeom prst="roundRect">
            <a:avLst/>
          </a:prstGeom>
          <a:noFill/>
          <a:ln w="12700">
            <a:solidFill>
              <a:srgbClr val="3CB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384047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CBBB1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8862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0DA"/>
                </a:solidFill>
              </a:defRPr>
            </a:pPr>
            <a:r>
              <a:t>Démonstration de transférabilité</a:t>
            </a:r>
            <a:br/>
            <a:r>
              <a:t>(santé, agriculture, transport)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Un même mécanisme d'orchestration pour différents services IA et différents domaines.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5A8"/>
                </a:solidFill>
              </a:defRPr>
            </a:pPr>
            <a:r>
              <a:t>Comment optimiser l'exécution d'une IA lorsque les ressources</a:t>
            </a:r>
            <a:br/>
            <a:r>
              <a:t>et le réseau ne sont jamais constants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8"/>
                </a:solidFill>
              </a:defRPr>
            </a:pPr>
            <a:r>
              <a:t>Boubacar NIANG  •  nboubacar944@gmail.com  •  UADB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